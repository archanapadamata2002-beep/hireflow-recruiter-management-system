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62" r:id="rId4"/>
    <p:sldId id="261" r:id="rId5"/>
    <p:sldId id="257" r:id="rId6"/>
    <p:sldId id="259" r:id="rId7"/>
    <p:sldId id="264" r:id="rId8"/>
    <p:sldId id="265" r:id="rId9"/>
    <p:sldId id="266" r:id="rId10"/>
    <p:sldId id="267" r:id="rId11"/>
    <p:sldId id="268" r:id="rId12"/>
    <p:sldId id="271" r:id="rId13"/>
    <p:sldId id="269" r:id="rId14"/>
    <p:sldId id="27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5000">
              <a:srgbClr val="D0DDED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2D1105C-E126-3B0D-1E52-68B40C50FDA9}"/>
              </a:ext>
            </a:extLst>
          </p:cNvPr>
          <p:cNvSpPr txBox="1"/>
          <p:nvPr/>
        </p:nvSpPr>
        <p:spPr>
          <a:xfrm>
            <a:off x="500332" y="2691773"/>
            <a:ext cx="782703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💼 </a:t>
            </a:r>
            <a:r>
              <a:rPr lang="en-US" sz="4000" dirty="0" err="1"/>
              <a:t>HireFlow</a:t>
            </a:r>
            <a:br>
              <a:rPr lang="en-US" sz="4000" dirty="0"/>
            </a:br>
            <a:r>
              <a:rPr lang="en-US" sz="4000" dirty="0"/>
              <a:t>Recruitment Management System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                     👩‍💻 Archana Padamata</a:t>
            </a:r>
            <a:br>
              <a:rPr lang="en-US" sz="4000" dirty="0"/>
            </a:b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B5230A-F098-3209-9774-316DC3DD0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3C2075CD-1A39-F07F-07BF-397BDBFA5A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22450"/>
            <a:ext cx="8229600" cy="384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HireFlow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full-stack web application designed to automate and streamline the recruitment process.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role-based access for Admin, Recruiter, and Candidate to manage hiring efficiently.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Candidates can search jobs, upload resumes, and apply, while recruiters manage applications and workflows.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supports end-to-end recruitment including shortlisting, selection, and interview scheduling.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integrates email notifications and match scoring to improve decision-making and user experience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6C5BAA3-8525-5529-840A-B876A7CD1A84}"/>
              </a:ext>
            </a:extLst>
          </p:cNvPr>
          <p:cNvSpPr txBox="1">
            <a:spLocks/>
          </p:cNvSpPr>
          <p:nvPr/>
        </p:nvSpPr>
        <p:spPr>
          <a:xfrm>
            <a:off x="557842" y="900545"/>
            <a:ext cx="3065252" cy="1156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Abstract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332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FD45A8-77B7-5BE0-E551-588CFE5A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662AB60-1857-4E20-8076-A065089DC10B}"/>
              </a:ext>
            </a:extLst>
          </p:cNvPr>
          <p:cNvSpPr txBox="1">
            <a:spLocks/>
          </p:cNvSpPr>
          <p:nvPr/>
        </p:nvSpPr>
        <p:spPr>
          <a:xfrm>
            <a:off x="557841" y="900545"/>
            <a:ext cx="4750279" cy="1156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System Architecture</a:t>
            </a:r>
            <a:endParaRPr lang="en-US" dirty="0"/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142F2028-B6E5-5370-D76C-132817D97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091" y="1886309"/>
            <a:ext cx="6785068" cy="429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036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80F747-2F31-0999-4D48-2C2743130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0E51-30AD-C00B-802C-0C5FB9F2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71282"/>
          </a:xfrm>
        </p:spPr>
        <p:txBody>
          <a:bodyPr/>
          <a:lstStyle/>
          <a:p>
            <a:r>
              <a:rPr lang="en-US" dirty="0"/>
              <a:t>Functionalities</a:t>
            </a: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D1ACD38-9EAA-0F74-B703-37B0D3A530BC}"/>
              </a:ext>
            </a:extLst>
          </p:cNvPr>
          <p:cNvSpPr/>
          <p:nvPr/>
        </p:nvSpPr>
        <p:spPr>
          <a:xfrm>
            <a:off x="457200" y="1690778"/>
            <a:ext cx="4114800" cy="2129832"/>
          </a:xfrm>
          <a:prstGeom prst="roundRect">
            <a:avLst/>
          </a:prstGeom>
          <a:solidFill>
            <a:srgbClr val="E6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rPr dirty="0">
                <a:solidFill>
                  <a:srgbClr val="FF0000"/>
                </a:solidFill>
              </a:rPr>
              <a:t>🔐 Authentication</a:t>
            </a:r>
          </a:p>
          <a:p>
            <a:r>
              <a:rPr dirty="0">
                <a:solidFill>
                  <a:srgbClr val="FF0000"/>
                </a:solidFill>
              </a:rPr>
              <a:t>• User Registration &amp; Login</a:t>
            </a:r>
          </a:p>
          <a:p>
            <a:r>
              <a:rPr dirty="0">
                <a:solidFill>
                  <a:srgbClr val="FF0000"/>
                </a:solidFill>
              </a:rPr>
              <a:t>• </a:t>
            </a:r>
            <a:r>
              <a:rPr dirty="0" err="1">
                <a:solidFill>
                  <a:srgbClr val="FF0000"/>
                </a:solidFill>
              </a:rPr>
              <a:t>BCrypt</a:t>
            </a:r>
            <a:r>
              <a:rPr dirty="0">
                <a:solidFill>
                  <a:srgbClr val="FF0000"/>
                </a:solidFill>
              </a:rPr>
              <a:t> Password Encryption</a:t>
            </a:r>
          </a:p>
          <a:p>
            <a:r>
              <a:rPr dirty="0">
                <a:solidFill>
                  <a:srgbClr val="FF0000"/>
                </a:solidFill>
              </a:rPr>
              <a:t>• JWT Token Generation</a:t>
            </a:r>
          </a:p>
          <a:p>
            <a:r>
              <a:rPr dirty="0">
                <a:solidFill>
                  <a:srgbClr val="FF0000"/>
                </a:solidFill>
              </a:rPr>
              <a:t>• Role-based Access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47F6BEA-3368-EBA1-EA9B-89F2C68577AF}"/>
              </a:ext>
            </a:extLst>
          </p:cNvPr>
          <p:cNvSpPr/>
          <p:nvPr/>
        </p:nvSpPr>
        <p:spPr>
          <a:xfrm>
            <a:off x="4572000" y="1645921"/>
            <a:ext cx="4114800" cy="2174689"/>
          </a:xfrm>
          <a:prstGeom prst="roundRect">
            <a:avLst/>
          </a:prstGeom>
          <a:solidFill>
            <a:srgbClr val="E6FF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rPr dirty="0">
                <a:solidFill>
                  <a:srgbClr val="FF0000"/>
                </a:solidFill>
              </a:rPr>
              <a:t>👤 Profile Management</a:t>
            </a:r>
          </a:p>
          <a:p>
            <a:r>
              <a:rPr dirty="0">
                <a:solidFill>
                  <a:srgbClr val="FF0000"/>
                </a:solidFill>
              </a:rPr>
              <a:t>• View &amp; Update Profile</a:t>
            </a:r>
          </a:p>
          <a:p>
            <a:r>
              <a:rPr dirty="0">
                <a:solidFill>
                  <a:srgbClr val="FF0000"/>
                </a:solidFill>
              </a:rPr>
              <a:t>• Store User Details</a:t>
            </a:r>
          </a:p>
          <a:p>
            <a:r>
              <a:rPr dirty="0">
                <a:solidFill>
                  <a:srgbClr val="FF0000"/>
                </a:solidFill>
              </a:rPr>
              <a:t>• Resume Upload</a:t>
            </a:r>
          </a:p>
          <a:p>
            <a:r>
              <a:rPr dirty="0">
                <a:solidFill>
                  <a:srgbClr val="FF0000"/>
                </a:solidFill>
              </a:rPr>
              <a:t>• Resume Linked to User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CD42BF99-B5E6-53B4-371D-3D58E72877E5}"/>
              </a:ext>
            </a:extLst>
          </p:cNvPr>
          <p:cNvSpPr/>
          <p:nvPr/>
        </p:nvSpPr>
        <p:spPr>
          <a:xfrm>
            <a:off x="457200" y="3904890"/>
            <a:ext cx="4114800" cy="2129832"/>
          </a:xfrm>
          <a:prstGeom prst="roundRect">
            <a:avLst/>
          </a:prstGeom>
          <a:solidFill>
            <a:srgbClr val="E6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rPr dirty="0"/>
              <a:t>📊 </a:t>
            </a:r>
            <a:r>
              <a:rPr dirty="0">
                <a:solidFill>
                  <a:srgbClr val="FF0000"/>
                </a:solidFill>
              </a:rPr>
              <a:t>Dashboard</a:t>
            </a:r>
          </a:p>
          <a:p>
            <a:r>
              <a:rPr dirty="0">
                <a:solidFill>
                  <a:srgbClr val="FF0000"/>
                </a:solidFill>
              </a:rPr>
              <a:t>• Total Jobs</a:t>
            </a:r>
          </a:p>
          <a:p>
            <a:r>
              <a:rPr dirty="0">
                <a:solidFill>
                  <a:srgbClr val="FF0000"/>
                </a:solidFill>
              </a:rPr>
              <a:t>• Total Applications</a:t>
            </a:r>
          </a:p>
          <a:p>
            <a:r>
              <a:rPr dirty="0">
                <a:solidFill>
                  <a:srgbClr val="FF0000"/>
                </a:solidFill>
              </a:rPr>
              <a:t>• Analytics Data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37A1B304-CFE2-6627-8B5A-3859B86CAFA8}"/>
              </a:ext>
            </a:extLst>
          </p:cNvPr>
          <p:cNvSpPr/>
          <p:nvPr/>
        </p:nvSpPr>
        <p:spPr>
          <a:xfrm>
            <a:off x="4572000" y="3991156"/>
            <a:ext cx="4114800" cy="1984074"/>
          </a:xfrm>
          <a:prstGeom prst="roundRect">
            <a:avLst/>
          </a:prstGeom>
          <a:solidFill>
            <a:srgbClr val="E6FF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rPr dirty="0"/>
              <a:t>🧑‍💻 </a:t>
            </a:r>
            <a:r>
              <a:rPr dirty="0">
                <a:solidFill>
                  <a:srgbClr val="FF0000"/>
                </a:solidFill>
              </a:rPr>
              <a:t>Admin</a:t>
            </a:r>
          </a:p>
          <a:p>
            <a:r>
              <a:rPr dirty="0">
                <a:solidFill>
                  <a:srgbClr val="FF0000"/>
                </a:solidFill>
              </a:rPr>
              <a:t>• Manage Users</a:t>
            </a:r>
          </a:p>
          <a:p>
            <a:r>
              <a:rPr dirty="0">
                <a:solidFill>
                  <a:srgbClr val="FF0000"/>
                </a:solidFill>
              </a:rPr>
              <a:t>• Manage Jobs</a:t>
            </a:r>
          </a:p>
          <a:p>
            <a:r>
              <a:rPr dirty="0">
                <a:solidFill>
                  <a:srgbClr val="FF0000"/>
                </a:solidFill>
              </a:rPr>
              <a:t>• System Monitoring</a:t>
            </a:r>
          </a:p>
        </p:txBody>
      </p:sp>
    </p:spTree>
    <p:extLst>
      <p:ext uri="{BB962C8B-B14F-4D97-AF65-F5344CB8AC3E}">
        <p14:creationId xmlns:p14="http://schemas.microsoft.com/office/powerpoint/2010/main" val="95773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40107" y="3314627"/>
            <a:ext cx="4028376" cy="1896827"/>
          </a:xfrm>
          <a:prstGeom prst="roundRect">
            <a:avLst/>
          </a:prstGeom>
          <a:solidFill>
            <a:srgbClr val="E6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rPr dirty="0"/>
              <a:t>💼 </a:t>
            </a:r>
            <a:r>
              <a:rPr dirty="0">
                <a:solidFill>
                  <a:srgbClr val="FF0000"/>
                </a:solidFill>
              </a:rPr>
              <a:t>Job Management</a:t>
            </a:r>
          </a:p>
          <a:p>
            <a:r>
              <a:rPr dirty="0">
                <a:solidFill>
                  <a:srgbClr val="FF0000"/>
                </a:solidFill>
              </a:rPr>
              <a:t>• Create, Update, Delete Jobs</a:t>
            </a:r>
          </a:p>
          <a:p>
            <a:r>
              <a:rPr dirty="0">
                <a:solidFill>
                  <a:srgbClr val="FF0000"/>
                </a:solidFill>
              </a:rPr>
              <a:t>• View Job Listings</a:t>
            </a:r>
          </a:p>
          <a:p>
            <a:r>
              <a:rPr dirty="0">
                <a:solidFill>
                  <a:srgbClr val="FF0000"/>
                </a:solidFill>
              </a:rPr>
              <a:t>• Job Details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3237780"/>
            <a:ext cx="4114800" cy="1974299"/>
          </a:xfrm>
          <a:prstGeom prst="roundRect">
            <a:avLst/>
          </a:prstGeom>
          <a:solidFill>
            <a:srgbClr val="E6FF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rPr dirty="0"/>
              <a:t>🔍 </a:t>
            </a:r>
            <a:r>
              <a:rPr dirty="0">
                <a:solidFill>
                  <a:srgbClr val="FF0000"/>
                </a:solidFill>
              </a:rPr>
              <a:t>Job Search</a:t>
            </a:r>
          </a:p>
          <a:p>
            <a:r>
              <a:rPr dirty="0">
                <a:solidFill>
                  <a:srgbClr val="FF0000"/>
                </a:solidFill>
              </a:rPr>
              <a:t>• Search by Role, Location</a:t>
            </a:r>
          </a:p>
          <a:p>
            <a:r>
              <a:rPr dirty="0">
                <a:solidFill>
                  <a:srgbClr val="FF0000"/>
                </a:solidFill>
              </a:rPr>
              <a:t>• Filter by Company &amp; Experience</a:t>
            </a:r>
          </a:p>
          <a:p>
            <a:r>
              <a:rPr dirty="0">
                <a:solidFill>
                  <a:srgbClr val="FF0000"/>
                </a:solidFill>
              </a:rPr>
              <a:t>• Dynamic API Filtering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FC8BC3A5-87A2-F093-0FE1-418DA5EDF01F}"/>
              </a:ext>
            </a:extLst>
          </p:cNvPr>
          <p:cNvSpPr/>
          <p:nvPr/>
        </p:nvSpPr>
        <p:spPr>
          <a:xfrm>
            <a:off x="440107" y="770626"/>
            <a:ext cx="4011283" cy="2311880"/>
          </a:xfrm>
          <a:prstGeom prst="roundRect">
            <a:avLst/>
          </a:prstGeom>
          <a:solidFill>
            <a:srgbClr val="E6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rPr dirty="0"/>
              <a:t>📄 </a:t>
            </a:r>
            <a:r>
              <a:rPr dirty="0">
                <a:solidFill>
                  <a:srgbClr val="FF0000"/>
                </a:solidFill>
              </a:rPr>
              <a:t>Application System</a:t>
            </a:r>
          </a:p>
          <a:p>
            <a:r>
              <a:rPr dirty="0">
                <a:solidFill>
                  <a:srgbClr val="FF0000"/>
                </a:solidFill>
              </a:rPr>
              <a:t>• Apply with Resume Upload</a:t>
            </a:r>
          </a:p>
          <a:p>
            <a:r>
              <a:rPr dirty="0">
                <a:solidFill>
                  <a:srgbClr val="FF0000"/>
                </a:solidFill>
              </a:rPr>
              <a:t>• Prevent Duplicate Applications</a:t>
            </a:r>
          </a:p>
          <a:p>
            <a:r>
              <a:rPr dirty="0">
                <a:solidFill>
                  <a:srgbClr val="FF0000"/>
                </a:solidFill>
              </a:rPr>
              <a:t>• Store Application Data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3901E48-CDC4-9BEB-3E3C-A6D1413CB491}"/>
              </a:ext>
            </a:extLst>
          </p:cNvPr>
          <p:cNvSpPr/>
          <p:nvPr/>
        </p:nvSpPr>
        <p:spPr>
          <a:xfrm>
            <a:off x="4572000" y="856892"/>
            <a:ext cx="4114800" cy="2118072"/>
          </a:xfrm>
          <a:prstGeom prst="roundRect">
            <a:avLst/>
          </a:prstGeom>
          <a:solidFill>
            <a:srgbClr val="E6FF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rPr dirty="0">
                <a:solidFill>
                  <a:srgbClr val="FF0000"/>
                </a:solidFill>
              </a:rPr>
              <a:t>🤖 Match Scoring</a:t>
            </a:r>
          </a:p>
          <a:p>
            <a:r>
              <a:rPr dirty="0">
                <a:solidFill>
                  <a:srgbClr val="FF0000"/>
                </a:solidFill>
              </a:rPr>
              <a:t>• Score (0–100)</a:t>
            </a:r>
          </a:p>
          <a:p>
            <a:r>
              <a:rPr dirty="0">
                <a:solidFill>
                  <a:srgbClr val="FF0000"/>
                </a:solidFill>
              </a:rPr>
              <a:t>• Based on Skills &amp; Resume</a:t>
            </a:r>
          </a:p>
          <a:p>
            <a:r>
              <a:rPr dirty="0">
                <a:solidFill>
                  <a:srgbClr val="FF0000"/>
                </a:solidFill>
              </a:rPr>
              <a:t>• Helps Recruiters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13426" y="385314"/>
            <a:ext cx="4114800" cy="2392392"/>
          </a:xfrm>
          <a:prstGeom prst="roundRect">
            <a:avLst/>
          </a:prstGeom>
          <a:solidFill>
            <a:srgbClr val="E6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rPr dirty="0"/>
              <a:t>📊 </a:t>
            </a:r>
            <a:r>
              <a:rPr dirty="0">
                <a:solidFill>
                  <a:srgbClr val="FF0000"/>
                </a:solidFill>
              </a:rPr>
              <a:t>Application Tracking</a:t>
            </a:r>
          </a:p>
          <a:p>
            <a:r>
              <a:rPr dirty="0">
                <a:solidFill>
                  <a:srgbClr val="FF0000"/>
                </a:solidFill>
              </a:rPr>
              <a:t>• Track Status</a:t>
            </a:r>
          </a:p>
          <a:p>
            <a:r>
              <a:rPr dirty="0">
                <a:solidFill>
                  <a:srgbClr val="FF0000"/>
                </a:solidFill>
              </a:rPr>
              <a:t>• View Applied Jobs</a:t>
            </a:r>
          </a:p>
          <a:p>
            <a:r>
              <a:rPr dirty="0">
                <a:solidFill>
                  <a:srgbClr val="FF0000"/>
                </a:solidFill>
              </a:rPr>
              <a:t>• Display Match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385314"/>
            <a:ext cx="4114800" cy="2478656"/>
          </a:xfrm>
          <a:prstGeom prst="roundRect">
            <a:avLst/>
          </a:prstGeom>
          <a:solidFill>
            <a:srgbClr val="E6FF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rPr dirty="0">
                <a:solidFill>
                  <a:srgbClr val="FF0000"/>
                </a:solidFill>
              </a:rPr>
              <a:t>🧑‍💼 Recruiter Features</a:t>
            </a:r>
          </a:p>
          <a:p>
            <a:r>
              <a:rPr dirty="0">
                <a:solidFill>
                  <a:srgbClr val="FF0000"/>
                </a:solidFill>
              </a:rPr>
              <a:t>• View Applications</a:t>
            </a:r>
          </a:p>
          <a:p>
            <a:r>
              <a:rPr dirty="0">
                <a:solidFill>
                  <a:srgbClr val="FF0000"/>
                </a:solidFill>
              </a:rPr>
              <a:t>• Shortlist / Select / Reject</a:t>
            </a:r>
          </a:p>
          <a:p>
            <a:r>
              <a:rPr dirty="0">
                <a:solidFill>
                  <a:srgbClr val="FF0000"/>
                </a:solidFill>
              </a:rPr>
              <a:t>• Access Resume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6AC55446-B657-B6FD-6380-5246D4355E31}"/>
              </a:ext>
            </a:extLst>
          </p:cNvPr>
          <p:cNvSpPr/>
          <p:nvPr/>
        </p:nvSpPr>
        <p:spPr>
          <a:xfrm>
            <a:off x="457200" y="3163018"/>
            <a:ext cx="4114800" cy="2478656"/>
          </a:xfrm>
          <a:prstGeom prst="roundRect">
            <a:avLst/>
          </a:prstGeom>
          <a:solidFill>
            <a:srgbClr val="E6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rPr dirty="0">
                <a:solidFill>
                  <a:srgbClr val="FF0000"/>
                </a:solidFill>
              </a:rPr>
              <a:t>📅 Interview Management</a:t>
            </a:r>
          </a:p>
          <a:p>
            <a:r>
              <a:rPr dirty="0">
                <a:solidFill>
                  <a:srgbClr val="FF0000"/>
                </a:solidFill>
              </a:rPr>
              <a:t>• Schedule Interview</a:t>
            </a:r>
          </a:p>
          <a:p>
            <a:r>
              <a:rPr dirty="0">
                <a:solidFill>
                  <a:srgbClr val="FF0000"/>
                </a:solidFill>
              </a:rPr>
              <a:t>• Date, Time, Message</a:t>
            </a:r>
          </a:p>
          <a:p>
            <a:r>
              <a:rPr dirty="0">
                <a:solidFill>
                  <a:srgbClr val="FF0000"/>
                </a:solidFill>
              </a:rPr>
              <a:t>• Update Status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F59BB41C-0203-078A-4332-0B5AFBA9168E}"/>
              </a:ext>
            </a:extLst>
          </p:cNvPr>
          <p:cNvSpPr/>
          <p:nvPr/>
        </p:nvSpPr>
        <p:spPr>
          <a:xfrm>
            <a:off x="4664014" y="3163018"/>
            <a:ext cx="4022785" cy="2478656"/>
          </a:xfrm>
          <a:prstGeom prst="roundRect">
            <a:avLst/>
          </a:prstGeom>
          <a:solidFill>
            <a:srgbClr val="E6FF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rPr dirty="0"/>
              <a:t>📩 </a:t>
            </a:r>
            <a:r>
              <a:rPr dirty="0">
                <a:solidFill>
                  <a:srgbClr val="FF0000"/>
                </a:solidFill>
              </a:rPr>
              <a:t>Notifications</a:t>
            </a:r>
          </a:p>
          <a:p>
            <a:r>
              <a:rPr dirty="0">
                <a:solidFill>
                  <a:srgbClr val="FF0000"/>
                </a:solidFill>
              </a:rPr>
              <a:t>• Email Alerts</a:t>
            </a:r>
          </a:p>
          <a:p>
            <a:r>
              <a:rPr dirty="0">
                <a:solidFill>
                  <a:srgbClr val="FF0000"/>
                </a:solidFill>
              </a:rPr>
              <a:t>• Application Updates</a:t>
            </a:r>
          </a:p>
          <a:p>
            <a:r>
              <a:rPr dirty="0">
                <a:solidFill>
                  <a:srgbClr val="FF0000"/>
                </a:solidFill>
              </a:rPr>
              <a:t>• Interview Notifications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713E-E5ED-1DE2-D43D-FB2968B2C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by role: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4D32D5-F1A2-8C48-19C0-19ABE5790F47}"/>
              </a:ext>
            </a:extLst>
          </p:cNvPr>
          <p:cNvSpPr txBox="1"/>
          <p:nvPr/>
        </p:nvSpPr>
        <p:spPr>
          <a:xfrm>
            <a:off x="97766" y="2553274"/>
            <a:ext cx="24383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🧑‍💻 Admin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Manage all users (view/delete)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Manage all job listings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Monitor system activities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 overall recruitment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 system control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89DB73-5286-F154-2ACA-363D37E236A0}"/>
              </a:ext>
            </a:extLst>
          </p:cNvPr>
          <p:cNvSpPr txBox="1"/>
          <p:nvPr/>
        </p:nvSpPr>
        <p:spPr>
          <a:xfrm>
            <a:off x="2536165" y="2276275"/>
            <a:ext cx="259367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🧑 Candidate (Job Seeker)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Register and login to the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Search and filter jobs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Apply for jobs with resume upload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 application status (Applied, Shortlisted, Rejected, Selected)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View interview details and updates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Manage personal profile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FB79F0-F207-255A-DBF0-E37FD66B65C9}"/>
              </a:ext>
            </a:extLst>
          </p:cNvPr>
          <p:cNvSpPr txBox="1"/>
          <p:nvPr/>
        </p:nvSpPr>
        <p:spPr>
          <a:xfrm>
            <a:off x="5227608" y="2276275"/>
            <a:ext cx="293298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🧑 Candidate (Job Seeker)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Register and login to the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Search and filter jobs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Apply for jobs with resume upload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 application status (Applied, Shortlisted, Rejected, Selected)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View interview details and updates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Manage personal profile</a:t>
            </a:r>
          </a:p>
        </p:txBody>
      </p:sp>
    </p:spTree>
    <p:extLst>
      <p:ext uri="{BB962C8B-B14F-4D97-AF65-F5344CB8AC3E}">
        <p14:creationId xmlns:p14="http://schemas.microsoft.com/office/powerpoint/2010/main" val="675702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C8FE3-AC64-4206-EE57-3F8784E62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TECHNOLOGY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627F59-B556-9C06-A455-9A2B3DB89A30}"/>
              </a:ext>
            </a:extLst>
          </p:cNvPr>
          <p:cNvSpPr txBox="1"/>
          <p:nvPr/>
        </p:nvSpPr>
        <p:spPr>
          <a:xfrm>
            <a:off x="1115684" y="2553274"/>
            <a:ext cx="34103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FRONTEND (React)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React.js (UI Development)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HTML5, CSS3, JavaScript (ES6)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Fetch API (REST communication)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LocalStorage</a:t>
            </a:r>
            <a:r>
              <a:rPr lang="en-US" dirty="0"/>
              <a:t> (User session handling)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Component-based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987267-FC64-7336-1E80-C26A5BFD63D9}"/>
              </a:ext>
            </a:extLst>
          </p:cNvPr>
          <p:cNvSpPr txBox="1"/>
          <p:nvPr/>
        </p:nvSpPr>
        <p:spPr>
          <a:xfrm>
            <a:off x="4525992" y="2553274"/>
            <a:ext cx="36058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⚙️ BACKEND (Spring Boot)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Java (JDK 17+)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Spring Boot (REST APIs)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Spring Data JPA (Hibernate)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MySQL (Database)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JWT Authentication &amp; </a:t>
            </a:r>
            <a:r>
              <a:rPr lang="en-US" dirty="0" err="1"/>
              <a:t>BCrypt</a:t>
            </a:r>
            <a:r>
              <a:rPr lang="en-US" dirty="0"/>
              <a:t> Security</a:t>
            </a:r>
          </a:p>
        </p:txBody>
      </p:sp>
    </p:spTree>
    <p:extLst>
      <p:ext uri="{BB962C8B-B14F-4D97-AF65-F5344CB8AC3E}">
        <p14:creationId xmlns:p14="http://schemas.microsoft.com/office/powerpoint/2010/main" val="1155221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B1329-D8D6-82C7-3B2B-AB5E41E73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to run: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740556-DD7B-96C3-801D-B8C5668D9A0E}"/>
              </a:ext>
            </a:extLst>
          </p:cNvPr>
          <p:cNvSpPr txBox="1"/>
          <p:nvPr/>
        </p:nvSpPr>
        <p:spPr>
          <a:xfrm>
            <a:off x="828136" y="2137776"/>
            <a:ext cx="400840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⚙️ Backend Setup (Spring Boot)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Install </a:t>
            </a:r>
            <a:r>
              <a:rPr lang="en-US" b="1" dirty="0"/>
              <a:t>Java (JDK 17+)</a:t>
            </a:r>
            <a:r>
              <a:rPr lang="en-US" dirty="0"/>
              <a:t> and </a:t>
            </a:r>
            <a:r>
              <a:rPr lang="en-US" b="1" dirty="0"/>
              <a:t>MySQL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database (e.g., </a:t>
            </a:r>
            <a:r>
              <a:rPr lang="en-US" dirty="0" err="1">
                <a:latin typeface="Courier New" panose="02070309020205020404" pitchFamily="49" charset="0"/>
              </a:rPr>
              <a:t>hireflow_db</a:t>
            </a:r>
            <a:r>
              <a:rPr lang="en-US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 </a:t>
            </a:r>
            <a:r>
              <a:rPr lang="en-US" dirty="0" err="1">
                <a:latin typeface="Courier New" panose="02070309020205020404" pitchFamily="49" charset="0"/>
              </a:rPr>
              <a:t>application.properties</a:t>
            </a:r>
            <a:r>
              <a:rPr lang="en-US" dirty="0"/>
              <a:t> (DB username &amp; password)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 the backend using: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mvn</a:t>
            </a:r>
            <a:r>
              <a:rPr lang="en-US" dirty="0">
                <a:latin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</a:rPr>
              <a:t>spring-boot:run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Server runs on:</a:t>
            </a:r>
            <a:br>
              <a:rPr lang="en-US" dirty="0"/>
            </a:br>
            <a:r>
              <a:rPr lang="en-US" dirty="0"/>
              <a:t>👉 </a:t>
            </a:r>
            <a:r>
              <a:rPr lang="en-US" dirty="0">
                <a:latin typeface="Courier New" panose="02070309020205020404" pitchFamily="49" charset="0"/>
              </a:rPr>
              <a:t>http://localhost:9095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3F6B2D-4F78-CE88-6B33-603A19702DE3}"/>
              </a:ext>
            </a:extLst>
          </p:cNvPr>
          <p:cNvSpPr txBox="1"/>
          <p:nvPr/>
        </p:nvSpPr>
        <p:spPr>
          <a:xfrm>
            <a:off x="4876800" y="1999276"/>
            <a:ext cx="3810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🎨 Frontend Setup (React)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Install </a:t>
            </a:r>
            <a:r>
              <a:rPr lang="en-US" b="1" dirty="0"/>
              <a:t>Node.js &amp; </a:t>
            </a:r>
            <a:r>
              <a:rPr lang="en-US" b="1" dirty="0" err="1"/>
              <a:t>npm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Navigate to frontend folder: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cd frontend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Install dependencies: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</a:rPr>
              <a:t> install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Start React app: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</a:rPr>
              <a:t> start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Runs on:</a:t>
            </a:r>
            <a:br>
              <a:rPr lang="en-US" dirty="0"/>
            </a:br>
            <a:r>
              <a:rPr lang="en-US" dirty="0"/>
              <a:t>👉 </a:t>
            </a:r>
            <a:r>
              <a:rPr lang="en-US" dirty="0">
                <a:latin typeface="Courier New" panose="02070309020205020404" pitchFamily="49" charset="0"/>
              </a:rPr>
              <a:t>http://localhost:3000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383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80DA7-866D-DD6D-8999-816E6065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92804"/>
          </a:xfrm>
        </p:spPr>
        <p:txBody>
          <a:bodyPr/>
          <a:lstStyle/>
          <a:p>
            <a:r>
              <a:rPr lang="en-US" dirty="0"/>
              <a:t>Backend Working: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801FB4-4C58-0E09-861C-F4723FF80970}"/>
              </a:ext>
            </a:extLst>
          </p:cNvPr>
          <p:cNvSpPr txBox="1"/>
          <p:nvPr/>
        </p:nvSpPr>
        <p:spPr>
          <a:xfrm>
            <a:off x="379564" y="2276275"/>
            <a:ext cx="295598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🧩 1. Controller Layer (API Layer)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Handles incoming HTTP requests from frontend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Defines REST endpoints (</a:t>
            </a:r>
            <a:r>
              <a:rPr lang="en-US" dirty="0">
                <a:latin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</a:rPr>
              <a:t>api</a:t>
            </a:r>
            <a:r>
              <a:rPr lang="en-US" dirty="0">
                <a:latin typeface="Courier New" panose="02070309020205020404" pitchFamily="49" charset="0"/>
              </a:rPr>
              <a:t>/users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</a:rPr>
              <a:t>api</a:t>
            </a:r>
            <a:r>
              <a:rPr lang="en-US" dirty="0">
                <a:latin typeface="Courier New" panose="02070309020205020404" pitchFamily="49" charset="0"/>
              </a:rPr>
              <a:t>/jobs</a:t>
            </a:r>
            <a:r>
              <a:rPr lang="en-US" dirty="0"/>
              <a:t>, etc.)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Receives input and sends response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Calls Service layer for processing </a:t>
            </a:r>
          </a:p>
          <a:p>
            <a:pPr>
              <a:buNone/>
            </a:pPr>
            <a:r>
              <a:rPr lang="en-US" dirty="0"/>
              <a:t>👉 </a:t>
            </a:r>
            <a:r>
              <a:rPr lang="en-US" b="1" dirty="0"/>
              <a:t>Example:</a:t>
            </a:r>
            <a:r>
              <a:rPr lang="en-US" dirty="0"/>
              <a:t> Login, Apply Job APIs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625C86-9FFE-F6AB-6FAE-C38FF50BD6FC}"/>
              </a:ext>
            </a:extLst>
          </p:cNvPr>
          <p:cNvSpPr txBox="1"/>
          <p:nvPr/>
        </p:nvSpPr>
        <p:spPr>
          <a:xfrm>
            <a:off x="3398809" y="2137776"/>
            <a:ext cx="2743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🧠 2. Service Layer (Business Logic)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Contains core application logic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Processes data and applies rules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Handles workflows like: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Job application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Match scoring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Interview scheduling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Communicates with Repository layer </a:t>
            </a:r>
          </a:p>
          <a:p>
            <a:pPr>
              <a:buNone/>
            </a:pPr>
            <a:r>
              <a:rPr lang="en-US" dirty="0"/>
              <a:t>👉 </a:t>
            </a:r>
            <a:r>
              <a:rPr lang="en-US" b="1" dirty="0"/>
              <a:t>Heart of the application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2482F1-7214-B6F6-21F6-3001B2214427}"/>
              </a:ext>
            </a:extLst>
          </p:cNvPr>
          <p:cNvSpPr txBox="1"/>
          <p:nvPr/>
        </p:nvSpPr>
        <p:spPr>
          <a:xfrm>
            <a:off x="6101752" y="2276275"/>
            <a:ext cx="28524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🗄️ 3. Repository Layer (Data Access Layer)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Interacts with database using JPA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Performs CRUD operations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interfaces like: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UserRepository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JobRepository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business logic here </a:t>
            </a:r>
          </a:p>
          <a:p>
            <a:pPr>
              <a:buNone/>
            </a:pPr>
            <a:r>
              <a:rPr lang="en-US" dirty="0"/>
              <a:t>👉 </a:t>
            </a:r>
            <a:r>
              <a:rPr lang="en-US" b="1" dirty="0"/>
              <a:t>Direct DB 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612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881359-69EC-DCE7-C56C-5F78C974BDE6}"/>
              </a:ext>
            </a:extLst>
          </p:cNvPr>
          <p:cNvSpPr txBox="1"/>
          <p:nvPr/>
        </p:nvSpPr>
        <p:spPr>
          <a:xfrm>
            <a:off x="270295" y="2137776"/>
            <a:ext cx="277770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🧱 4. Entity Layer (Model Layer)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Represents database tables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Defines fields and relationships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Job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Application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Interview </a:t>
            </a:r>
          </a:p>
          <a:p>
            <a:pPr>
              <a:buNone/>
            </a:pPr>
            <a:r>
              <a:rPr lang="en-US" dirty="0"/>
              <a:t>👉 </a:t>
            </a:r>
            <a:r>
              <a:rPr lang="en-US" b="1" dirty="0"/>
              <a:t>Maps Java objects ↔ Database tables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132669-1CBB-6E52-7F87-6DDFE48F26C8}"/>
              </a:ext>
            </a:extLst>
          </p:cNvPr>
          <p:cNvSpPr txBox="1"/>
          <p:nvPr/>
        </p:nvSpPr>
        <p:spPr>
          <a:xfrm>
            <a:off x="3094008" y="2553274"/>
            <a:ext cx="30019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🔐 5. Security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Handles authentication &amp; authorization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JWT token generation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Password encryption (</a:t>
            </a:r>
            <a:r>
              <a:rPr lang="en-US" dirty="0" err="1"/>
              <a:t>BCrypt</a:t>
            </a:r>
            <a:r>
              <a:rPr lang="en-US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Controls access to APIs </a:t>
            </a:r>
          </a:p>
          <a:p>
            <a:pPr>
              <a:buNone/>
            </a:pPr>
            <a:r>
              <a:rPr lang="en-US" dirty="0"/>
              <a:t>👉 </a:t>
            </a:r>
            <a:r>
              <a:rPr lang="en-US" b="1" dirty="0"/>
              <a:t>Protects the system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9A3C02-C93C-F2A6-A1ED-D4F24B713816}"/>
              </a:ext>
            </a:extLst>
          </p:cNvPr>
          <p:cNvSpPr txBox="1"/>
          <p:nvPr/>
        </p:nvSpPr>
        <p:spPr>
          <a:xfrm>
            <a:off x="5865962" y="2276275"/>
            <a:ext cx="25476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⚠️ 6. Exception Handling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Global error handling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Returns structured error responses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Not found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Invalid login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Server errors </a:t>
            </a:r>
          </a:p>
          <a:p>
            <a:pPr>
              <a:buNone/>
            </a:pPr>
            <a:r>
              <a:rPr lang="en-US" dirty="0"/>
              <a:t>👉 </a:t>
            </a:r>
            <a:r>
              <a:rPr lang="en-US" b="1" dirty="0"/>
              <a:t>Improves reliability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294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797E5-B3E2-0151-CAB7-7A12D2FBB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APIs</a:t>
            </a:r>
          </a:p>
        </p:txBody>
      </p:sp>
      <p:sp>
        <p:nvSpPr>
          <p:cNvPr id="3" name="AutoShape 2" descr="Generated image: HireFlow REST APIs infographic">
            <a:extLst>
              <a:ext uri="{FF2B5EF4-FFF2-40B4-BE49-F238E27FC236}">
                <a16:creationId xmlns:a16="http://schemas.microsoft.com/office/drawing/2014/main" id="{D32821B0-C077-881A-2D6B-7E3796DA8B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Generated image: HireFlow REST APIs infographic">
            <a:extLst>
              <a:ext uri="{FF2B5EF4-FFF2-40B4-BE49-F238E27FC236}">
                <a16:creationId xmlns:a16="http://schemas.microsoft.com/office/drawing/2014/main" id="{20941E7A-D1AA-9508-DF9A-3011F29972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9D7207-74D8-F8C6-527F-94B040AEE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909" y="1690777"/>
            <a:ext cx="7171427" cy="420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858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75118-B125-B6C1-254D-2BC64B01C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32603"/>
            <a:ext cx="8229600" cy="1679275"/>
          </a:xfrm>
        </p:spPr>
        <p:txBody>
          <a:bodyPr/>
          <a:lstStyle/>
          <a:p>
            <a:r>
              <a:rPr lang="en-US" dirty="0"/>
              <a:t>Advantages: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9177C5-3433-5083-8636-12D3CA0648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Automates the complete recruitment process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manual work and saves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system for managing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job search and application process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application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 management and quick access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email notifications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hiring efficiency and decision-making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secure access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and user-friendly system </a:t>
            </a:r>
          </a:p>
        </p:txBody>
      </p:sp>
    </p:spTree>
    <p:extLst>
      <p:ext uri="{BB962C8B-B14F-4D97-AF65-F5344CB8AC3E}">
        <p14:creationId xmlns:p14="http://schemas.microsoft.com/office/powerpoint/2010/main" val="1296945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0C3993D-E634-48A0-12CB-61F45A602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ED32D-0F54-F38B-D5A5-2FAF5251B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32603"/>
            <a:ext cx="8229600" cy="1679275"/>
          </a:xfrm>
        </p:spPr>
        <p:txBody>
          <a:bodyPr/>
          <a:lstStyle/>
          <a:p>
            <a:r>
              <a:rPr lang="en-US" dirty="0"/>
              <a:t>Conclusion: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054B46A-A1EF-E4F7-7AC7-8ECBBBBE47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2891834"/>
            <a:ext cx="765738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HireFlow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successfully automates the complete recruitment process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Simplifies job posting, application tracking, and hiring workflow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efficiency and reduces manual effort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centralized and user-friendly platform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decision-making with match scoring and analytics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further improved with advanced features in future </a:t>
            </a:r>
          </a:p>
        </p:txBody>
      </p:sp>
    </p:spTree>
    <p:extLst>
      <p:ext uri="{BB962C8B-B14F-4D97-AF65-F5344CB8AC3E}">
        <p14:creationId xmlns:p14="http://schemas.microsoft.com/office/powerpoint/2010/main" val="2226619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851</Words>
  <Application>Microsoft Office PowerPoint</Application>
  <PresentationFormat>On-screen Show (4:3)</PresentationFormat>
  <Paragraphs>178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HireFlow is a full-stack web application designed to automate and streamline the recruitment process.  It provides role-based access for Admin, Recruiter, and Candidate to manage hiring efficiently.  Candidates can search jobs, upload resumes, and apply, while recruiters manage applications and workflows.  The system supports end-to-end recruitment including shortlisting, selection, and interview scheduling.  It integrates email notifications and match scoring to improve decision-making and user experience. </vt:lpstr>
      <vt:lpstr>PowerPoint Presentation</vt:lpstr>
      <vt:lpstr>Functionalities</vt:lpstr>
      <vt:lpstr>PowerPoint Presentation</vt:lpstr>
      <vt:lpstr>PowerPoint Presentation</vt:lpstr>
      <vt:lpstr>Action by role:</vt:lpstr>
      <vt:lpstr>TECHNOLOGY</vt:lpstr>
      <vt:lpstr>Process to run:</vt:lpstr>
      <vt:lpstr>Backend Working:</vt:lpstr>
      <vt:lpstr>PowerPoint Presentation</vt:lpstr>
      <vt:lpstr>Rest APIs</vt:lpstr>
      <vt:lpstr>Advantages:</vt:lpstr>
      <vt:lpstr>Conclusion: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Archana Padamata</dc:creator>
  <cp:keywords/>
  <dc:description>generated using python-pptx</dc:description>
  <cp:lastModifiedBy>Archana Padamata</cp:lastModifiedBy>
  <cp:revision>2</cp:revision>
  <dcterms:created xsi:type="dcterms:W3CDTF">2013-01-27T09:14:16Z</dcterms:created>
  <dcterms:modified xsi:type="dcterms:W3CDTF">2026-03-31T04:55:25Z</dcterms:modified>
  <cp:category/>
</cp:coreProperties>
</file>